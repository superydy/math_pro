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20116"/>
          </a:xfrm>
          <a:prstGeom prst="rect">
            <a:avLst/>
          </a:prstGeom>
          <a:solidFill>
            <a:srgbClr val="8B6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20116"/>
          </a:xfrm>
          <a:prstGeom prst="rect">
            <a:avLst/>
          </a:prstGeom>
          <a:solidFill>
            <a:srgbClr val="8B6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50292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73152"/>
            <a:ext cx="20116" cy="6720840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336" y="73152"/>
            <a:ext cx="20116" cy="6720840"/>
          </a:xfrm>
          <a:prstGeom prst="rect">
            <a:avLst/>
          </a:prstGeom>
          <a:solidFill>
            <a:srgbClr val="8B6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164592"/>
            <a:ext cx="7223760" cy="649224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28032" y="237744"/>
            <a:ext cx="7077456" cy="6345936"/>
          </a:xfrm>
          <a:prstGeom prst="rect">
            <a:avLst/>
          </a:prstGeom>
          <a:noFill/>
          <a:ln w="9525">
            <a:solidFill>
              <a:srgbClr val="786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81635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86850"/>
                </a:solidFill>
              </a:rPr>
              <a:t>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33756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942A"/>
                </a:solidFill>
              </a:rPr>
              <a:t>泥河湾遗址 · 地层剖面 / 遗址全景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749039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86850"/>
                </a:solidFill>
              </a:rPr>
              <a:t>黄昏光线下的遗址发掘现场
或地质剖面震撼全景图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"/>
            <a:ext cx="4160520" cy="6492240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64592"/>
            <a:ext cx="4160520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6629400"/>
            <a:ext cx="4160520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6850"/>
                </a:solidFill>
              </a:rPr>
              <a:t>赛题五  ·  开放赛题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841248"/>
            <a:ext cx="3200400" cy="20116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96012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E8B850"/>
                </a:solidFill>
              </a:rPr>
              <a:t>地质记忆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029968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0E6CC"/>
                </a:solidFill>
              </a:rPr>
              <a:t>文明溯源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00400"/>
            <a:ext cx="3200400" cy="20116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337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B898"/>
                </a:solidFill>
              </a:rPr>
              <a:t>泥河湾遗址的数字化保护与传播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C8942A"/>
                </a:solidFill>
              </a:rPr>
              <a:t>166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8920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B850"/>
                </a:solidFill>
              </a:rPr>
              <a:t>万年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577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B898"/>
                </a:solidFill>
              </a:rPr>
              <a:t>东亚最早人类活动遗址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0533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6850"/>
                </a:solidFill>
              </a:rPr>
              <a:t>河北 · 张家口 · 阳原县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850"/>
                </a:solidFill>
              </a:rPr>
              <a:t>泥河湾  ·  东方人类的摇篮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国家级自然保护区 · 全国重点文物保护单位 · 世界著名旧石器时代遗址群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11457432" cy="320040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243584"/>
            <a:ext cx="11311128" cy="3054096"/>
          </a:xfrm>
          <a:prstGeom prst="rect">
            <a:avLst/>
          </a:prstGeom>
          <a:noFill/>
          <a:ln w="9525">
            <a:solidFill>
              <a:srgbClr val="786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74436" y="217627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86850"/>
                </a:solidFill>
              </a:rPr>
              <a:t>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942A"/>
                </a:solidFill>
              </a:rPr>
              <a:t>泥河湾盆地全景 / 发掘现场震撼大图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86850"/>
                </a:solidFill>
              </a:rPr>
              <a:t>建议：用最震撼的一张横版全景照片，体现遗址的宏大尺度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72000"/>
            <a:ext cx="2743200" cy="192024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572000"/>
            <a:ext cx="2743200" cy="36576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663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B850"/>
                </a:solidFill>
              </a:rPr>
              <a:t>166万年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44068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B898"/>
                </a:solidFill>
              </a:rPr>
              <a:t>东亚最早
人类活动证据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9272" y="4572000"/>
            <a:ext cx="2743200" cy="192024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9272" y="4572000"/>
            <a:ext cx="2743200" cy="36576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9272" y="4663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B850"/>
                </a:solidFill>
              </a:rPr>
              <a:t>200余处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544068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B898"/>
                </a:solidFill>
              </a:rPr>
              <a:t>旧石器遗址
密度全球罕见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2784" y="4572000"/>
            <a:ext cx="2743200" cy="192024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2784" y="4572000"/>
            <a:ext cx="2743200" cy="36576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4663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B850"/>
                </a:solidFill>
              </a:rPr>
              <a:t>古湖泊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544068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B898"/>
                </a:solidFill>
              </a:rPr>
              <a:t>温暖湿润环境
孕育早期人类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26296" y="4572000"/>
            <a:ext cx="2743200" cy="192024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26296" y="4572000"/>
            <a:ext cx="2743200" cy="36576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26296" y="4663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B850"/>
                </a:solidFill>
              </a:rPr>
              <a:t>东方峡谷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544068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B898"/>
                </a:solidFill>
              </a:rPr>
              <a:t>与非洲奥杜威
齐名的人类圣地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850"/>
                </a:solidFill>
              </a:rPr>
              <a:t>地质环境  ·  文明诞生的摇篮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读懂地层，就是读懂祖先为何选择在此生息繁衍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943600" cy="525780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261872"/>
            <a:ext cx="5797296" cy="5111496"/>
          </a:xfrm>
          <a:prstGeom prst="rect">
            <a:avLst/>
          </a:prstGeom>
          <a:noFill/>
          <a:ln w="9525">
            <a:solidFill>
              <a:srgbClr val="786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32232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86850"/>
                </a:solidFill>
              </a:rPr>
              <a:t>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446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942A"/>
                </a:solidFill>
              </a:rPr>
              <a:t>古湖泊环境复原图 / 地质地层剖面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5594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86850"/>
                </a:solidFill>
              </a:rPr>
              <a:t>泥河湾古湖复原画 或
地层年代示意图（越古越深）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517904"/>
            <a:ext cx="109728" cy="777240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27631"/>
            <a:ext cx="502920" cy="109728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9400" y="1536192"/>
            <a:ext cx="411480" cy="411480"/>
          </a:xfrm>
          <a:prstGeom prst="ellipse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942A"/>
                </a:solidFill>
              </a:rPr>
              <a:t>300万年前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792224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泥河湾盆地断陷
形成大型古湖泊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523744"/>
            <a:ext cx="109728" cy="274320"/>
          </a:xfrm>
          <a:prstGeom prst="rect">
            <a:avLst/>
          </a:prstGeom>
          <a:solidFill>
            <a:srgbClr val="786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2816352"/>
            <a:ext cx="109728" cy="777240"/>
          </a:xfrm>
          <a:prstGeom prst="rect">
            <a:avLst/>
          </a:prstGeom>
          <a:solidFill>
            <a:srgbClr val="8B6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926079"/>
            <a:ext cx="502920" cy="109728"/>
          </a:xfrm>
          <a:prstGeom prst="rect">
            <a:avLst/>
          </a:prstGeom>
          <a:solidFill>
            <a:srgbClr val="8B6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2834639"/>
            <a:ext cx="411480" cy="411480"/>
          </a:xfrm>
          <a:prstGeom prst="ellipse">
            <a:avLst/>
          </a:prstGeom>
          <a:solidFill>
            <a:srgbClr val="8B6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6700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6014"/>
                </a:solidFill>
              </a:rPr>
              <a:t>200万年前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09067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湖岸气候温暖湿润
动植物资源极为丰富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822191"/>
            <a:ext cx="109728" cy="274320"/>
          </a:xfrm>
          <a:prstGeom prst="rect">
            <a:avLst/>
          </a:prstGeom>
          <a:solidFill>
            <a:srgbClr val="786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4114800"/>
            <a:ext cx="109728" cy="777240"/>
          </a:xfrm>
          <a:prstGeom prst="rect">
            <a:avLst/>
          </a:prstGeom>
          <a:solidFill>
            <a:srgbClr val="E8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224528"/>
            <a:ext cx="502920" cy="109728"/>
          </a:xfrm>
          <a:prstGeom prst="rect">
            <a:avLst/>
          </a:prstGeom>
          <a:solidFill>
            <a:srgbClr val="E8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29400" y="4133087"/>
            <a:ext cx="411480" cy="411480"/>
          </a:xfrm>
          <a:prstGeom prst="ellipse">
            <a:avLst/>
          </a:prstGeom>
          <a:solidFill>
            <a:srgbClr val="E8B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396849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B850"/>
                </a:solidFill>
              </a:rPr>
              <a:t>166万年前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3891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东亚最早先民抵达
在湖岸打制石器定居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5120640"/>
            <a:ext cx="109728" cy="274320"/>
          </a:xfrm>
          <a:prstGeom prst="rect">
            <a:avLst/>
          </a:prstGeom>
          <a:solidFill>
            <a:srgbClr val="786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0" y="5413248"/>
            <a:ext cx="109728" cy="777240"/>
          </a:xfrm>
          <a:prstGeom prst="rect">
            <a:avLst/>
          </a:prstGeom>
          <a:solidFill>
            <a:srgbClr val="786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5522976"/>
            <a:ext cx="502920" cy="109728"/>
          </a:xfrm>
          <a:prstGeom prst="rect">
            <a:avLst/>
          </a:prstGeom>
          <a:solidFill>
            <a:srgbClr val="786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29400" y="5431536"/>
            <a:ext cx="411480" cy="411480"/>
          </a:xfrm>
          <a:prstGeom prst="ellipse">
            <a:avLst/>
          </a:prstGeom>
          <a:solidFill>
            <a:srgbClr val="786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52669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86850"/>
                </a:solidFill>
              </a:rPr>
              <a:t>数千年积累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568756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地层封存历史密码
泥河湾层成地质奇观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850"/>
                </a:solidFill>
              </a:rPr>
              <a:t>数字化保护与传播方案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三维复原 · VR时空穿越 · 数字博物馆  让166万年前的世界重现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3657600" cy="557784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70432"/>
            <a:ext cx="3657600" cy="36576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261872"/>
            <a:ext cx="3511296" cy="274320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1335024"/>
            <a:ext cx="3364991" cy="2596896"/>
          </a:xfrm>
          <a:prstGeom prst="rect">
            <a:avLst/>
          </a:prstGeom>
          <a:noFill/>
          <a:ln w="9525">
            <a:solidFill>
              <a:srgbClr val="786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203911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86850"/>
                </a:solidFill>
              </a:rPr>
              <a:t>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560320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942A"/>
                </a:solidFill>
              </a:rPr>
              <a:t>三维地质复原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971800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86850"/>
                </a:solidFill>
              </a:rPr>
              <a:t>遗址地层3D建模
古湖泊景观数字渲染图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69080"/>
            <a:ext cx="3657600" cy="20116"/>
          </a:xfrm>
          <a:prstGeom prst="rect">
            <a:avLst/>
          </a:prstGeom>
          <a:solidFill>
            <a:srgbClr val="8B6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605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B850"/>
                </a:solidFill>
              </a:rPr>
              <a:t>三维地质复原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81728"/>
            <a:ext cx="3108960" cy="13716"/>
          </a:xfrm>
          <a:prstGeom prst="rect">
            <a:avLst/>
          </a:prstGeom>
          <a:solidFill>
            <a:srgbClr val="786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773168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◈  精准复原古地貌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76672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◈  可视化地层年代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0176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◈  石器出土空间定位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170432"/>
            <a:ext cx="3657600" cy="557784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1170432"/>
            <a:ext cx="3657600" cy="36576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1261872"/>
            <a:ext cx="3511296" cy="274320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43984" y="1335024"/>
            <a:ext cx="3364991" cy="2596896"/>
          </a:xfrm>
          <a:prstGeom prst="rect">
            <a:avLst/>
          </a:prstGeom>
          <a:noFill/>
          <a:ln w="9525">
            <a:solidFill>
              <a:srgbClr val="786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203911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86850"/>
                </a:solidFill>
              </a:rPr>
              <a:t>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2560320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942A"/>
                </a:solidFill>
              </a:rPr>
              <a:t>VR时空穿越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2971800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86850"/>
                </a:solidFill>
              </a:rPr>
              <a:t>VR头盔中的
166万年前泥河湾古湖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4069080"/>
            <a:ext cx="3657600" cy="20116"/>
          </a:xfrm>
          <a:prstGeom prst="rect">
            <a:avLst/>
          </a:prstGeom>
          <a:solidFill>
            <a:srgbClr val="8B6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1605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B850"/>
                </a:solidFill>
              </a:rPr>
              <a:t>VR时空穿越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4681728"/>
            <a:ext cx="3108960" cy="13716"/>
          </a:xfrm>
          <a:prstGeom prst="rect">
            <a:avLst/>
          </a:prstGeom>
          <a:solidFill>
            <a:srgbClr val="786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4773168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◈  沉浸感受祖先环境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76672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◈  与虚拟先民互动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980176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◈  科学严谨场景重建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170432"/>
            <a:ext cx="3657600" cy="557784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1170432"/>
            <a:ext cx="3657600" cy="36576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02752" y="1261872"/>
            <a:ext cx="3511296" cy="274320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75904" y="1335024"/>
            <a:ext cx="3364991" cy="2596896"/>
          </a:xfrm>
          <a:prstGeom prst="rect">
            <a:avLst/>
          </a:prstGeom>
          <a:noFill/>
          <a:ln w="9525">
            <a:solidFill>
              <a:srgbClr val="786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203911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86850"/>
                </a:solidFill>
              </a:rPr>
              <a:t>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2560320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942A"/>
                </a:solidFill>
              </a:rPr>
              <a:t>数字博物馆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2971800"/>
            <a:ext cx="3328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86850"/>
                </a:solidFill>
              </a:rPr>
              <a:t>线上博物馆界面
文物高清3D展示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069080"/>
            <a:ext cx="3657600" cy="20116"/>
          </a:xfrm>
          <a:prstGeom prst="rect">
            <a:avLst/>
          </a:prstGeom>
          <a:solidFill>
            <a:srgbClr val="8B6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41605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B850"/>
                </a:solidFill>
              </a:rPr>
              <a:t>数字博物馆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4681728"/>
            <a:ext cx="3108960" cy="13716"/>
          </a:xfrm>
          <a:prstGeom prst="rect">
            <a:avLst/>
          </a:prstGeom>
          <a:solidFill>
            <a:srgbClr val="786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4773168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◈  文物三维可交互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376672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◈  地质科普图文并茂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980176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◈  面向全球免费开放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914400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22860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112745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B850"/>
                </a:solidFill>
              </a:rPr>
              <a:t>数字复原成果  ·  重见166万年前的东方大地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7406640" cy="539496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124712"/>
            <a:ext cx="7260336" cy="5248656"/>
          </a:xfrm>
          <a:prstGeom prst="rect">
            <a:avLst/>
          </a:prstGeom>
          <a:noFill/>
          <a:ln w="9525">
            <a:solidFill>
              <a:srgbClr val="786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9" y="315467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86850"/>
                </a:solidFill>
              </a:rPr>
              <a:t>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75887"/>
            <a:ext cx="7223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942A"/>
                </a:solidFill>
              </a:rPr>
              <a:t>【核心图】古湖泊 + 早期人类活动
数字复原全景渲染图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087368"/>
            <a:ext cx="7223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86850"/>
                </a:solidFill>
              </a:rPr>
              <a:t>这是整个PPT最重要的一张图
建议委托专业美工或使用AI绘图生成
画面：蓝色古湖 + 黄土高地 + 先民剪影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051560"/>
            <a:ext cx="4023360" cy="256032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82712" y="1124712"/>
            <a:ext cx="3877056" cy="2414015"/>
          </a:xfrm>
          <a:prstGeom prst="rect">
            <a:avLst/>
          </a:prstGeom>
          <a:noFill/>
          <a:ln w="9525">
            <a:solidFill>
              <a:srgbClr val="786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17373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86850"/>
                </a:solidFill>
              </a:rPr>
              <a:t>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2585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942A"/>
                </a:solidFill>
              </a:rPr>
              <a:t>马圈沟出土石器文物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6700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86850"/>
                </a:solidFill>
              </a:rPr>
              <a:t>高清文物照片或3D扫描模型截图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3840480"/>
            <a:ext cx="4023360" cy="260604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82712" y="3913632"/>
            <a:ext cx="3877056" cy="2459736"/>
          </a:xfrm>
          <a:prstGeom prst="rect">
            <a:avLst/>
          </a:prstGeom>
          <a:noFill/>
          <a:ln w="9525">
            <a:solidFill>
              <a:srgbClr val="786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45491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86850"/>
                </a:solidFill>
              </a:rPr>
              <a:t>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0703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942A"/>
                </a:solidFill>
              </a:rPr>
              <a:t>地层年代可视化图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48182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86850"/>
                </a:solidFill>
              </a:rPr>
              <a:t>将地质分层与人类活动时间线
对应呈现在同一图中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850"/>
                </a:solidFill>
              </a:rPr>
              <a:t>应用场景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让地质遗址走进课堂 · 走进景区 · 走向世界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5669280" cy="2724912"/>
          </a:xfrm>
          <a:prstGeom prst="rect">
            <a:avLst/>
          </a:prstGeom>
          <a:solidFill>
            <a:srgbClr val="1C1208"/>
          </a:solidFill>
          <a:ln w="1016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5669280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3192" y="1243584"/>
            <a:ext cx="3566160" cy="251460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" y="1316736"/>
            <a:ext cx="3419856" cy="2368296"/>
          </a:xfrm>
          <a:prstGeom prst="rect">
            <a:avLst/>
          </a:prstGeom>
          <a:noFill/>
          <a:ln w="9525">
            <a:solidFill>
              <a:srgbClr val="786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56231" y="190652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86850"/>
                </a:solidFill>
              </a:rPr>
              <a:t>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427732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942A"/>
                </a:solidFill>
              </a:rPr>
              <a:t>科普教育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839212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86850"/>
                </a:solidFill>
              </a:rPr>
              <a:t>青少年VR体验课堂
或博物馆互动展示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79" y="1627632"/>
            <a:ext cx="20116" cy="1645920"/>
          </a:xfrm>
          <a:prstGeom prst="rect">
            <a:avLst/>
          </a:prstGeom>
          <a:solidFill>
            <a:srgbClr val="786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1353312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B850"/>
                </a:solidFill>
              </a:rPr>
              <a:t>科普教育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901952"/>
            <a:ext cx="16642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B898"/>
                </a:solidFill>
              </a:rPr>
              <a:t>课堂里的
百万年时光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170432"/>
            <a:ext cx="5669280" cy="2724912"/>
          </a:xfrm>
          <a:prstGeom prst="rect">
            <a:avLst/>
          </a:prstGeom>
          <a:solidFill>
            <a:srgbClr val="1C1208"/>
          </a:solidFill>
          <a:ln w="1016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170432"/>
            <a:ext cx="5669280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6792" y="1243584"/>
            <a:ext cx="3566160" cy="251460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9944" y="1316736"/>
            <a:ext cx="3419856" cy="2368296"/>
          </a:xfrm>
          <a:prstGeom prst="rect">
            <a:avLst/>
          </a:prstGeom>
          <a:noFill/>
          <a:ln w="9525">
            <a:solidFill>
              <a:srgbClr val="786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9831" y="190652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86850"/>
                </a:solidFill>
              </a:rPr>
              <a:t>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2427732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942A"/>
                </a:solidFill>
              </a:rPr>
              <a:t>文化旅游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2839212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86850"/>
                </a:solidFill>
              </a:rPr>
              <a:t>遗址公园游览
AR导览手机截图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12680" y="1627632"/>
            <a:ext cx="20116" cy="1645920"/>
          </a:xfrm>
          <a:prstGeom prst="rect">
            <a:avLst/>
          </a:prstGeom>
          <a:solidFill>
            <a:srgbClr val="786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20" y="1353312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B850"/>
                </a:solidFill>
              </a:rPr>
              <a:t>文化旅游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1901952"/>
            <a:ext cx="16642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B898"/>
                </a:solidFill>
              </a:rPr>
              <a:t>脚下的历史
触手可及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13632"/>
            <a:ext cx="5669280" cy="2724912"/>
          </a:xfrm>
          <a:prstGeom prst="rect">
            <a:avLst/>
          </a:prstGeom>
          <a:solidFill>
            <a:srgbClr val="1C1208"/>
          </a:solidFill>
          <a:ln w="1016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5669280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3192" y="3986784"/>
            <a:ext cx="3566160" cy="251460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344" y="4059936"/>
            <a:ext cx="3419856" cy="2368296"/>
          </a:xfrm>
          <a:prstGeom prst="rect">
            <a:avLst/>
          </a:prstGeom>
          <a:noFill/>
          <a:ln w="9525">
            <a:solidFill>
              <a:srgbClr val="786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56231" y="464972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86850"/>
                </a:solidFill>
              </a:rPr>
              <a:t>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5170932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942A"/>
                </a:solidFill>
              </a:rPr>
              <a:t>学术研究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5582412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86850"/>
                </a:solidFill>
              </a:rPr>
              <a:t>科研人员使用
3D地质数据平台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79" y="4370832"/>
            <a:ext cx="20116" cy="1645920"/>
          </a:xfrm>
          <a:prstGeom prst="rect">
            <a:avLst/>
          </a:prstGeom>
          <a:solidFill>
            <a:srgbClr val="786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60520" y="4096512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B850"/>
                </a:solidFill>
              </a:rPr>
              <a:t>学术研究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4645152"/>
            <a:ext cx="16642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B898"/>
                </a:solidFill>
              </a:rPr>
              <a:t>跨学科研究
数据共享平台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913632"/>
            <a:ext cx="5669280" cy="2724912"/>
          </a:xfrm>
          <a:prstGeom prst="rect">
            <a:avLst/>
          </a:prstGeom>
          <a:solidFill>
            <a:srgbClr val="1C1208"/>
          </a:solidFill>
          <a:ln w="1016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3913632"/>
            <a:ext cx="5669280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36792" y="3986784"/>
            <a:ext cx="3566160" cy="251460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9944" y="4059936"/>
            <a:ext cx="3419856" cy="2368296"/>
          </a:xfrm>
          <a:prstGeom prst="rect">
            <a:avLst/>
          </a:prstGeom>
          <a:noFill/>
          <a:ln w="9525">
            <a:solidFill>
              <a:srgbClr val="786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99831" y="464972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86850"/>
                </a:solidFill>
              </a:rPr>
              <a:t>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8231" y="5170932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942A"/>
                </a:solidFill>
              </a:rPr>
              <a:t>国际传播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8231" y="5582412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86850"/>
                </a:solidFill>
              </a:rPr>
              <a:t>海外展览现场
或国际学术报告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12680" y="4370832"/>
            <a:ext cx="20116" cy="1645920"/>
          </a:xfrm>
          <a:prstGeom prst="rect">
            <a:avLst/>
          </a:prstGeom>
          <a:solidFill>
            <a:srgbClr val="786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04120" y="4096512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B850"/>
                </a:solidFill>
              </a:rPr>
              <a:t>国际传播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4120" y="4645152"/>
            <a:ext cx="16642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B898"/>
                </a:solidFill>
              </a:rPr>
              <a:t>向世界讲述
东方文明起源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B850"/>
                </a:solidFill>
              </a:rPr>
              <a:t>价值与意义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B898"/>
                </a:solidFill>
              </a:rPr>
              <a:t>文化自信 · 科学精神 · 遗产保护 · 文明互鉴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5486400" cy="539496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70432"/>
            <a:ext cx="5486400" cy="45720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C8942A"/>
                </a:solidFill>
              </a:rPr>
              <a:t>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E6CC"/>
                </a:solidFill>
              </a:rPr>
              <a:t>读懂
地层，
就是
读懂祖先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349240"/>
            <a:ext cx="4114800" cy="20116"/>
          </a:xfrm>
          <a:prstGeom prst="rect">
            <a:avLst/>
          </a:prstGeom>
          <a:solidFill>
            <a:srgbClr val="8B6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532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6850"/>
                </a:solidFill>
              </a:rPr>
              <a:t>——泥河湾，166万年人类史的地质档案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234440"/>
            <a:ext cx="5760720" cy="1188720"/>
          </a:xfrm>
          <a:prstGeom prst="rect">
            <a:avLst/>
          </a:prstGeom>
          <a:solidFill>
            <a:srgbClr val="281C0E"/>
          </a:solidFill>
          <a:ln w="1016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234440"/>
            <a:ext cx="5760720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32588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B850"/>
                </a:solidFill>
              </a:rPr>
              <a:t>文化自信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0136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B898"/>
                </a:solidFill>
              </a:rPr>
              <a:t>166万年证明中华文明根脉深厚
数字化让更多人看见这段历史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560320"/>
            <a:ext cx="5760720" cy="1188720"/>
          </a:xfrm>
          <a:prstGeom prst="rect">
            <a:avLst/>
          </a:prstGeom>
          <a:solidFill>
            <a:srgbClr val="281C0E"/>
          </a:solidFill>
          <a:ln w="1016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2560320"/>
            <a:ext cx="5760720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65176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B850"/>
                </a:solidFill>
              </a:rPr>
              <a:t>科文融合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12724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B898"/>
                </a:solidFill>
              </a:rPr>
              <a:t>地质科学×人文历史跨界结合
用科学讲述文明起源的故事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886200"/>
            <a:ext cx="5760720" cy="1188720"/>
          </a:xfrm>
          <a:prstGeom prst="rect">
            <a:avLst/>
          </a:prstGeom>
          <a:solidFill>
            <a:srgbClr val="281C0E"/>
          </a:solidFill>
          <a:ln w="1016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3886200"/>
            <a:ext cx="5760720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977639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B850"/>
                </a:solidFill>
              </a:rPr>
              <a:t>遗产保护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45312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B898"/>
                </a:solidFill>
              </a:rPr>
              <a:t>自然侵蚀不可逆
数字永久留存不可再生遗产信息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5212079"/>
            <a:ext cx="5760720" cy="1188720"/>
          </a:xfrm>
          <a:prstGeom prst="rect">
            <a:avLst/>
          </a:prstGeom>
          <a:solidFill>
            <a:srgbClr val="281C0E"/>
          </a:solidFill>
          <a:ln w="1016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5212079"/>
            <a:ext cx="5760720" cy="32004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5303519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B850"/>
                </a:solidFill>
              </a:rPr>
              <a:t>文明互鉴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779007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B898"/>
                </a:solidFill>
              </a:rPr>
              <a:t>与非洲奥杜威峡谷对话
展示人类共同起源与多元文明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20116"/>
          </a:xfrm>
          <a:prstGeom prst="rect">
            <a:avLst/>
          </a:prstGeom>
          <a:solidFill>
            <a:srgbClr val="8B6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20116"/>
          </a:xfrm>
          <a:prstGeom prst="rect">
            <a:avLst/>
          </a:prstGeom>
          <a:solidFill>
            <a:srgbClr val="8B6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50292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"/>
            <a:ext cx="11548872" cy="4800600"/>
          </a:xfrm>
          <a:prstGeom prst="rect">
            <a:avLst/>
          </a:prstGeom>
          <a:solidFill>
            <a:srgbClr val="1C1208"/>
          </a:solidFill>
          <a:ln w="12700">
            <a:solidFill>
              <a:srgbClr val="8B6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3192" y="182880"/>
            <a:ext cx="11402568" cy="4654296"/>
          </a:xfrm>
          <a:prstGeom prst="rect">
            <a:avLst/>
          </a:prstGeom>
          <a:noFill/>
          <a:ln w="9525">
            <a:solidFill>
              <a:srgbClr val="786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74436" y="19156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86850"/>
                </a:solidFill>
              </a:rPr>
              <a:t>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436876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942A"/>
                </a:solidFill>
              </a:rPr>
              <a:t>结语大图  ·  最震撼的一张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848356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86850"/>
                </a:solidFill>
              </a:rPr>
              <a:t>建议：泥河湾遗址日落/黄昏全景
或数字复原图与真实遗址的对比拼接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029200"/>
            <a:ext cx="12188952" cy="1719072"/>
          </a:xfrm>
          <a:prstGeom prst="rect">
            <a:avLst/>
          </a:prstGeom>
          <a:solidFill>
            <a:srgbClr val="1C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029200"/>
            <a:ext cx="12188952" cy="36576"/>
          </a:xfrm>
          <a:prstGeom prst="rect">
            <a:avLst/>
          </a:prstGeom>
          <a:solidFill>
            <a:srgbClr val="C8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B850"/>
                </a:solidFill>
              </a:rPr>
              <a:t>让166万年前的地质记忆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7900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0E6CC"/>
                </a:solidFill>
              </a:rPr>
              <a:t>在数字时代重新照亮中华文明的来路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6510528"/>
            <a:ext cx="5788152" cy="13716"/>
          </a:xfrm>
          <a:prstGeom prst="rect">
            <a:avLst/>
          </a:prstGeom>
          <a:solidFill>
            <a:srgbClr val="8B6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6850"/>
                </a:solidFill>
              </a:rPr>
              <a:t>赛题5 · 开放赛题  |  第三届中国研究生文化中国两创大赛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