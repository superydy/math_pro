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CCAA"/>
                </a:solidFill>
              </a:rPr>
              <a:t>文化中国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CCAA"/>
                </a:solidFill>
              </a:rPr>
              <a:t>两创大赛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32004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0116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数字赋能·剪映千年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17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EEDD"/>
                </a:solidFill>
              </a:rPr>
              <a:t>蔚县剪纸的数字化活化与创新传播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F37"/>
                </a:solidFill>
              </a:rPr>
              <a:t>赛题 5  开放赛题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72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AA"/>
                </a:solidFill>
              </a:rPr>
              <a:t>第三届中国研究生【文化中国】两创大赛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CAA"/>
                </a:solidFill>
              </a:rPr>
              <a:t>2026年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914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ECCAA"/>
                </a:solidFill>
              </a:rPr>
              <a:t>剪纸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2020"/>
                </a:solidFill>
              </a:rPr>
              <a:t>千年技艺  数字新生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4747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国家级非物质文化遗产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0233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4023359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AI辅助设计 · 创新转化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5720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AR沉浸体验 · 活化传承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1206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数字档案 · 永久留存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65836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C2C2C"/>
                </a:solidFill>
              </a:rPr>
              <a:t>注：作品中不含学校、个人及指导教师信息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743200"/>
            <a:ext cx="640080" cy="8229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7889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743200"/>
            <a:ext cx="5029200" cy="82296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6148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2020"/>
                </a:solidFill>
              </a:rPr>
              <a:t>创作背景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546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蔚县剪纸的历史渊源与当代困境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743200"/>
            <a:ext cx="640080" cy="8229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7889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743200"/>
            <a:ext cx="5029200" cy="82296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276148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2020"/>
                </a:solidFill>
              </a:rPr>
              <a:t>问题分析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1546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传承断层与传播局限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77639"/>
            <a:ext cx="640080" cy="8229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023359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977639"/>
            <a:ext cx="5029200" cy="82296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995927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2020"/>
                </a:solidFill>
              </a:rPr>
              <a:t>设计理念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3891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以数字技术赋能传统非遗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977639"/>
            <a:ext cx="640080" cy="8229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023359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3977639"/>
            <a:ext cx="5029200" cy="82296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3995927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2020"/>
                </a:solidFill>
              </a:rPr>
              <a:t>技术方案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3891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AI生成 · AR体验 · 数字档案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212080"/>
            <a:ext cx="640080" cy="8229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2578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212080"/>
            <a:ext cx="5029200" cy="82296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2303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2020"/>
                </a:solidFill>
              </a:rPr>
              <a:t>应用场景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6235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文旅融合 · 教育传承 · 文创开发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5212080"/>
            <a:ext cx="640080" cy="8229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52578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5212080"/>
            <a:ext cx="5029200" cy="82296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52303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2020"/>
                </a:solidFill>
              </a:rPr>
              <a:t>社会价值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56235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文化自信与创新发展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创作背景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蔚县剪纸：千年技艺的当代困境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03520" cy="5029200"/>
          </a:xfrm>
          <a:prstGeom prst="rect">
            <a:avLst/>
          </a:prstGeom>
          <a:solidFill>
            <a:srgbClr val="FF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2020"/>
                </a:solidFill>
              </a:rPr>
              <a:t>蔚县剪纸简介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• 起源于明代，距今已有500余年历史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• 国家级非物质文化遗产（2006年入选）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• 以【点色彩绘】技法著称，色彩鲜艳独特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79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• 核心产区：河北省张家口市蔚县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• 年产剪纸超过5000万张，出口40余国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• 题材涵盖戏曲人物、民俗风情、吉祥图案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280160"/>
            <a:ext cx="5760720" cy="50292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2020"/>
                </a:solidFill>
              </a:rPr>
              <a:t>当代传承困境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920240"/>
            <a:ext cx="73152" cy="8229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0000"/>
                </a:solidFill>
              </a:rPr>
              <a:t>传承人老龄化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2860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核心传承人平均年龄超过60岁，年轻接班人严重不足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971800"/>
            <a:ext cx="73152" cy="8229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971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0000"/>
                </a:solidFill>
              </a:rPr>
              <a:t>市场认知度低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37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大众对蔚县剪纸了解有限，与现代审美脱节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023360"/>
            <a:ext cx="73152" cy="8229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023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0000"/>
                </a:solidFill>
              </a:rPr>
              <a:t>技艺记录缺失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389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大量独门技法仅靠口耳相传，缺乏系统性数字记录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5074920"/>
            <a:ext cx="73152" cy="8229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5074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0000"/>
                </a:solidFill>
              </a:rPr>
              <a:t>传播渠道单一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440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主要依赖线下展销，数字化传播能力薄弱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问题分析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传承断层 · 传播局限 · 创新缺位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566160" cy="5486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传承断层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566160" cy="448056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▸ 核心技艺难以量化记录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▸ 学习成本高，周期长达数年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▸ 年轻人从业意愿持续下降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▸ 现有传承人不足200人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566160" cy="548640"/>
          </a:xfrm>
          <a:prstGeom prst="rect">
            <a:avLst/>
          </a:prstGeom>
          <a:solidFill>
            <a:srgbClr val="B8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3258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传播局限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3566160" cy="448056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920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▸ 线下展览覆盖人群有限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▸ 数字内容质量参差不齐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▸ 缺乏互动性与沉浸感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▸ 跨文化传播能力弱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280160"/>
            <a:ext cx="3566160" cy="54864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3258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创新缺位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828800"/>
            <a:ext cx="3566160" cy="448056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920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▸ 产品形态与现代生活脱节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▸ 文创开发缺乏系统设计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▸ 与现代科技融合度不足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▸ 品牌认知度低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217920"/>
            <a:ext cx="11457432" cy="320040"/>
          </a:xfrm>
          <a:prstGeom prst="rect">
            <a:avLst/>
          </a:prstGeom>
          <a:solidFill>
            <a:srgbClr val="F0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23620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2020"/>
                </a:solidFill>
              </a:rPr>
              <a:t>结论：亟需以现代数字技术为手段，探索蔚县剪纸创造性转化与创新性发展的新路径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设计理念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以数字技术赋能非遗 · 让传统文化活起来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70248" y="2560320"/>
            <a:ext cx="3657600" cy="13716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70248" y="2651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数字赋能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0248" y="3200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EEDD"/>
                </a:solidFill>
              </a:rPr>
              <a:t>蔚县剪纸活化传承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200400" cy="1737360"/>
          </a:xfrm>
          <a:prstGeom prst="rect">
            <a:avLst/>
          </a:prstGeom>
          <a:solidFill>
            <a:srgbClr val="FD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200400" cy="411480"/>
          </a:xfrm>
          <a:prstGeom prst="rect">
            <a:avLst/>
          </a:prstGeom>
          <a:solidFill>
            <a:srgbClr val="E88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保护优先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以数字技术建立完整的技艺档案，
在数字空间永久保存每一种剪纸技法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3200400" cy="1737360"/>
          </a:xfrm>
          <a:prstGeom prst="rect">
            <a:avLst/>
          </a:prstGeom>
          <a:solidFill>
            <a:srgbClr val="FD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3200400" cy="411480"/>
          </a:xfrm>
          <a:prstGeom prst="rect">
            <a:avLst/>
          </a:prstGeom>
          <a:solidFill>
            <a:srgbClr val="E88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40740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活化传承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463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通过AI学习辅助工具降低技艺入门
门槛，让更多人参与传承实践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1828800"/>
            <a:ext cx="3200400" cy="1737360"/>
          </a:xfrm>
          <a:prstGeom prst="rect">
            <a:avLst/>
          </a:prstGeom>
          <a:solidFill>
            <a:srgbClr val="FD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0" y="1828800"/>
            <a:ext cx="3200400" cy="411480"/>
          </a:xfrm>
          <a:prstGeom prst="rect">
            <a:avLst/>
          </a:prstGeom>
          <a:solidFill>
            <a:srgbClr val="E88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8470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创新转化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2860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结合现代审美进行创意设计，开发
符合当代市场需求的文创产品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4389120"/>
            <a:ext cx="3200400" cy="1737360"/>
          </a:xfrm>
          <a:prstGeom prst="rect">
            <a:avLst/>
          </a:prstGeom>
          <a:solidFill>
            <a:srgbClr val="FD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4389120"/>
            <a:ext cx="3200400" cy="411480"/>
          </a:xfrm>
          <a:prstGeom prst="rect">
            <a:avLst/>
          </a:prstGeom>
          <a:solidFill>
            <a:srgbClr val="E88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440740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广泛传播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8463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借助AR/VR与社交媒体，打破地域
限制，实现文化价值的最大传播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技术方案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三大技术支柱构建数字化传承体系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566160" cy="5943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6187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AI辅助设计系统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566160" cy="4572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✓  构建蔚县剪纸图案数据库（5000+样本）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✓  训练深度学习模型识别传统纹样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661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✓  AI辅助新图案生成，保留传统风格基因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891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✓  用户交互设计工具，降低创作门槛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120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✓  输出标准化矢量图，支持工业生产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34440"/>
            <a:ext cx="3566160" cy="594360"/>
          </a:xfrm>
          <a:prstGeom prst="rect">
            <a:avLst/>
          </a:prstGeom>
          <a:solidFill>
            <a:srgbClr val="B8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26187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AR沉浸体验平台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3566160" cy="4572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920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✓  3D扫描建立剪纸作品高精度数字模型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7432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✓  AR识别技术：扫描实物即触发动态展示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5661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✓  虚拟剪纸体验：用户可在线剪出自己作品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891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✓  非遗传承人录制技艺讲解视频内嵌展示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2120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✓  多语言支持，面向国际传播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234440"/>
            <a:ext cx="3566160" cy="5943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26187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数字化档案平台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828800"/>
            <a:ext cx="3566160" cy="4572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920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✓  对濒危技法进行全流程视频记录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7432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✓  建立传承人口述历史数字档案库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5661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✓  高清图像+3D模型双重保存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3891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✓  开放API供研究机构调用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52120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✓  云端备份，永久保存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创新亮点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技术创新 × 文化创新 × 模式创新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097280" cy="14630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技术创新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280160"/>
            <a:ext cx="10241280" cy="1463040"/>
          </a:xfrm>
          <a:prstGeom prst="rect">
            <a:avLst/>
          </a:prstGeom>
          <a:solidFill>
            <a:srgbClr val="FD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3716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2020"/>
                </a:solidFill>
              </a:rPr>
              <a:t>首创剪纸纹样AI生成模型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288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将深度学习与传统美学结合，训练专属于蔚县剪纸风格的生成式AI，既能辅助传统艺人进行图案设计，又能帮助初学者快速入门，实现了技艺传播的智能化与大众化。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1097280" cy="14630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4290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体验创新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2971800"/>
            <a:ext cx="10241280" cy="1463040"/>
          </a:xfrm>
          <a:prstGeom prst="rect">
            <a:avLst/>
          </a:prstGeom>
          <a:solidFill>
            <a:srgbClr val="FD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0632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2020"/>
                </a:solidFill>
              </a:rPr>
              <a:t>AR技术打造沉浸式非遗体验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5204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用户通过手机扫描剪纸作品，即可看到作品背后的历史故事与制作过程动画，真正实现「见物见人见生活」，打破传统展陈的单向传播局限。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63440"/>
            <a:ext cx="1097280" cy="14630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1206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模式创新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663440"/>
            <a:ext cx="10241280" cy="1463040"/>
          </a:xfrm>
          <a:prstGeom prst="rect">
            <a:avLst/>
          </a:prstGeom>
          <a:solidFill>
            <a:srgbClr val="FD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4754879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2020"/>
                </a:solidFill>
              </a:rPr>
              <a:t>构建保护-传承-产业完整链条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212079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</a:rPr>
              <a:t>从数字档案保护，到学习传承平台，再到AI辅助文创设计开发，形成完整的非遗数字化生态，探索可复制、可推广的非遗活化新模式。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多维度落地 · 全链条赋能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651760" cy="5303520"/>
          </a:xfrm>
          <a:prstGeom prst="rect">
            <a:avLst/>
          </a:prstGeom>
          <a:solidFill>
            <a:srgbClr val="FD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651760" cy="64008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文旅融合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▸ 蔚县景区AR导览系统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▸ 非遗主题互动体验馆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77639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▸ 数字剪纸文创伴手礼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83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▸ 线上非遗文化旅游节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234440"/>
            <a:ext cx="2651760" cy="5303520"/>
          </a:xfrm>
          <a:prstGeom prst="rect">
            <a:avLst/>
          </a:prstGeom>
          <a:solidFill>
            <a:srgbClr val="FD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234440"/>
            <a:ext cx="2651760" cy="640080"/>
          </a:xfrm>
          <a:prstGeom prst="rect">
            <a:avLst/>
          </a:prstGeom>
          <a:solidFill>
            <a:srgbClr val="B8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2618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教育传承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965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▸ 中小学美育课程数字教材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971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▸ 高校非遗研究数据库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977639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▸ 在线剪纸学习App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983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▸ 传承人技艺线上公开课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34440"/>
            <a:ext cx="2651760" cy="5303520"/>
          </a:xfrm>
          <a:prstGeom prst="rect">
            <a:avLst/>
          </a:prstGeom>
          <a:solidFill>
            <a:srgbClr val="FD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234440"/>
            <a:ext cx="2651760" cy="64008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2618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文创产业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965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▸ AI辅助剪纸图案授权设计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971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▸ 非遗IP开发与品牌孵化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977639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▸ 数字藏品（NFT）限量发行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983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▸ 国潮服饰纹样合作授权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1234440"/>
            <a:ext cx="2651760" cy="5303520"/>
          </a:xfrm>
          <a:prstGeom prst="rect">
            <a:avLst/>
          </a:prstGeom>
          <a:solidFill>
            <a:srgbClr val="FD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234440"/>
            <a:ext cx="2651760" cy="640080"/>
          </a:xfrm>
          <a:prstGeom prst="rect">
            <a:avLst/>
          </a:prstGeom>
          <a:solidFill>
            <a:srgbClr val="2B4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12618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国际传播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1965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▸ 多语言非遗展示平台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971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▸ 海外文化中心数字展览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977639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▸ 与国际博物馆数据共享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4983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▸ 跨文化艺术创作交流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社会价值与意义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CC"/>
                </a:solidFill>
              </a:rPr>
              <a:t>文化自信 · 创新发展 · 国际传播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2194560"/>
          </a:xfrm>
          <a:prstGeom prst="rect">
            <a:avLst/>
          </a:prstGeom>
          <a:solidFill>
            <a:srgbClr val="FD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075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坚定文化自信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蔚县剪纸是中华优秀传统文化的重要载体。通过数字技术的活化传承，让更多中国人、尤其是年轻一代直观感受传统美学的魅力，在潜移默化中增强文化认同感与民族自豪感。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486400" cy="2194560"/>
          </a:xfrm>
          <a:prstGeom prst="rect">
            <a:avLst/>
          </a:prstGeom>
          <a:solidFill>
            <a:srgbClr val="FD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486400" cy="4572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075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践行两创精神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本项目以习近平文化思想为指导，将传统剪纸与AI、AR等现代技术深度融合，是对中华优秀传统文化「创造性转化、创新性发展」的具体实践，探索了非遗在数字时代焕发生机的可行路径。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5486400" cy="2194560"/>
          </a:xfrm>
          <a:prstGeom prst="rect">
            <a:avLst/>
          </a:prstGeom>
          <a:solidFill>
            <a:srgbClr val="FD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5486400" cy="4572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7764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服务国家战略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79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契合「数字中国」建设、文旅融合发展、乡村振兴等国家重大战略，助力蔚县打造非遗文化品牌，带动地方文化产业发展，实现社会效益与经济效益的双重提升。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749039"/>
            <a:ext cx="5486400" cy="2194560"/>
          </a:xfrm>
          <a:prstGeom prst="rect">
            <a:avLst/>
          </a:prstGeom>
          <a:solidFill>
            <a:srgbClr val="FD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49039"/>
            <a:ext cx="5486400" cy="4572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7764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推动文明互鉴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97679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数字平台突破地域与语言限制，将蔚县剪纸推向国际舞台，以中华美学感染世界，贡献中国文化软实力，推动中华文明与世界文明的交流互鉴。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2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数字赋能·剪映千年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EEDD"/>
                </a:solidFill>
              </a:rPr>
              <a:t>蔚县剪纸的数字化活化与创新传播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57881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4AF37"/>
                </a:solidFill>
              </a:rPr>
              <a:t>◆  以AI技术赋能传统技艺，降低传承门槛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3484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4AF37"/>
                </a:solidFill>
              </a:rPr>
              <a:t>◆  以AR平台创新传播方式，提升文化感染力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4AF37"/>
                </a:solidFill>
              </a:rPr>
              <a:t>◆  以数字档案永久留存，守护非遗根脉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让千年剪纸技艺，在数字时代焕发新生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赛题5 · 开放赛题  |  第三届中国研究生【文化中国】两创大赛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