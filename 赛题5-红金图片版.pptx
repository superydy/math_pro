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120640" y="0"/>
            <a:ext cx="54864" cy="685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CCAA"/>
                </a:solidFill>
              </a:rPr>
              <a:t>赛题 5  ·  开放赛题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365760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88720"/>
            <a:ext cx="4572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数字赋能·剪映千年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46888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EEDD"/>
                </a:solidFill>
              </a:rPr>
              <a:t>蔚县剪纸的数字化活化
与创新传播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611880"/>
            <a:ext cx="365760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3794760"/>
            <a:ext cx="4206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CCAA"/>
                </a:solidFill>
              </a:rPr>
              <a:t>第三届中国研究生
文化中国两创大赛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7548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4AF37"/>
                </a:solidFill>
              </a:rPr>
              <a:t>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49240" y="274320"/>
            <a:ext cx="6492240" cy="4663440"/>
          </a:xfrm>
          <a:prstGeom prst="rect">
            <a:avLst/>
          </a:prstGeom>
          <a:solidFill>
            <a:srgbClr val="F5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04103" y="329184"/>
            <a:ext cx="6382512" cy="4553712"/>
          </a:xfrm>
          <a:prstGeom prst="rect">
            <a:avLst/>
          </a:prstGeom>
          <a:noFill/>
          <a:ln w="12700">
            <a:solidFill>
              <a:srgbClr val="CC8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9" y="210312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CC8844"/>
                </a:solidFill>
              </a:rPr>
              <a:t>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2587751"/>
            <a:ext cx="6492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02020"/>
                </a:solidFill>
              </a:rPr>
              <a:t>蔚县剪纸代表作品图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2990087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AAAAA"/>
                </a:solidFill>
              </a:rPr>
              <a:t>建议：放一张色彩鲜艳的剪纸全图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94960" y="5212080"/>
            <a:ext cx="1965960" cy="640080"/>
          </a:xfrm>
          <a:prstGeom prst="rect">
            <a:avLst/>
          </a:prstGeom>
          <a:solidFill>
            <a:srgbClr val="F5ECE0"/>
          </a:solidFill>
          <a:ln w="19050">
            <a:solidFill>
              <a:srgbClr val="C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4960" y="5230368"/>
            <a:ext cx="1965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C02020"/>
                </a:solidFill>
              </a:rPr>
              <a:t>AI 辅助设计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89520" y="5212080"/>
            <a:ext cx="1965960" cy="640080"/>
          </a:xfrm>
          <a:prstGeom prst="rect">
            <a:avLst/>
          </a:prstGeom>
          <a:solidFill>
            <a:srgbClr val="F5ECE0"/>
          </a:solidFill>
          <a:ln w="19050">
            <a:solidFill>
              <a:srgbClr val="C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0" y="5230368"/>
            <a:ext cx="1965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C02020"/>
                </a:solidFill>
              </a:rPr>
              <a:t>AR 沉浸体验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84080" y="5212080"/>
            <a:ext cx="1965960" cy="640080"/>
          </a:xfrm>
          <a:prstGeom prst="rect">
            <a:avLst/>
          </a:prstGeom>
          <a:solidFill>
            <a:srgbClr val="F5ECE0"/>
          </a:solidFill>
          <a:ln w="19050">
            <a:solidFill>
              <a:srgbClr val="C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0" y="5230368"/>
            <a:ext cx="1965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C02020"/>
                </a:solidFill>
              </a:rPr>
              <a:t>数字档案留存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83680"/>
            <a:ext cx="121889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蔚县剪纸  ·  千年技艺之美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13232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DDCC"/>
                </a:solidFill>
              </a:rPr>
              <a:t>国家级非遗 · 500年历史 · 点色彩绘 · 年产5000万张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5577840" cy="2514600"/>
          </a:xfrm>
          <a:prstGeom prst="rect">
            <a:avLst/>
          </a:prstGeom>
          <a:solidFill>
            <a:srgbClr val="F5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0624" y="1289304"/>
            <a:ext cx="5468112" cy="2404872"/>
          </a:xfrm>
          <a:prstGeom prst="rect">
            <a:avLst/>
          </a:prstGeom>
          <a:noFill/>
          <a:ln w="12700">
            <a:solidFill>
              <a:srgbClr val="CC8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88920" y="1988819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CC8844"/>
                </a:solidFill>
              </a:rPr>
              <a:t>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473452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02020"/>
                </a:solidFill>
              </a:rPr>
              <a:t>戏曲人物类剪纸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875788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AAAAA"/>
                </a:solidFill>
              </a:rPr>
              <a:t>如《贵妃醉酒》《霸王别姬》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234440"/>
            <a:ext cx="5577840" cy="2514600"/>
          </a:xfrm>
          <a:prstGeom prst="rect">
            <a:avLst/>
          </a:prstGeom>
          <a:solidFill>
            <a:srgbClr val="F5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18504" y="1289304"/>
            <a:ext cx="5468112" cy="2404872"/>
          </a:xfrm>
          <a:prstGeom prst="rect">
            <a:avLst/>
          </a:prstGeom>
          <a:noFill/>
          <a:ln w="12700">
            <a:solidFill>
              <a:srgbClr val="CC8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0" y="1988819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CC8844"/>
                </a:solidFill>
              </a:rPr>
              <a:t>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473452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02020"/>
                </a:solidFill>
              </a:rPr>
              <a:t>民俗吉祥类剪纸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875788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AAAAA"/>
                </a:solidFill>
              </a:rPr>
              <a:t>如《莲年有余》《喜上眉梢》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931920"/>
            <a:ext cx="5577840" cy="2514600"/>
          </a:xfrm>
          <a:prstGeom prst="rect">
            <a:avLst/>
          </a:prstGeom>
          <a:solidFill>
            <a:srgbClr val="F5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0624" y="3986784"/>
            <a:ext cx="5468112" cy="2404872"/>
          </a:xfrm>
          <a:prstGeom prst="rect">
            <a:avLst/>
          </a:prstGeom>
          <a:noFill/>
          <a:ln w="12700">
            <a:solidFill>
              <a:srgbClr val="CC8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88920" y="468630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CC8844"/>
                </a:solidFill>
              </a:rPr>
              <a:t>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5170932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02020"/>
                </a:solidFill>
              </a:rPr>
              <a:t>花卉动物类剪纸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5573268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AAAAA"/>
                </a:solidFill>
              </a:rPr>
              <a:t>如牡丹、凤凰、蝴蝶等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3931920"/>
            <a:ext cx="5577840" cy="2514600"/>
          </a:xfrm>
          <a:prstGeom prst="rect">
            <a:avLst/>
          </a:prstGeom>
          <a:solidFill>
            <a:srgbClr val="F5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18504" y="3986784"/>
            <a:ext cx="5468112" cy="2404872"/>
          </a:xfrm>
          <a:prstGeom prst="rect">
            <a:avLst/>
          </a:prstGeom>
          <a:noFill/>
          <a:ln w="12700">
            <a:solidFill>
              <a:srgbClr val="CC8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0" y="468630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CC8844"/>
                </a:solidFill>
              </a:rPr>
              <a:t>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5170932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02020"/>
                </a:solidFill>
              </a:rPr>
              <a:t>点色彩绘工艺特写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73268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AAAAA"/>
                </a:solidFill>
              </a:rPr>
              <a:t>展示刻刀 + 点色工序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传承困境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13232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DDCC"/>
                </a:solidFill>
              </a:rPr>
              <a:t>技艺正在消逝 · 亟待数字化保护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5029200" cy="5212080"/>
          </a:xfrm>
          <a:prstGeom prst="rect">
            <a:avLst/>
          </a:prstGeom>
          <a:solidFill>
            <a:srgbClr val="F5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4919472" cy="5102352"/>
          </a:xfrm>
          <a:prstGeom prst="rect">
            <a:avLst/>
          </a:prstGeom>
          <a:noFill/>
          <a:ln w="12700">
            <a:solidFill>
              <a:srgbClr val="CC8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14600" y="329184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CC8844"/>
                </a:solidFill>
              </a:rPr>
              <a:t>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77647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02020"/>
                </a:solidFill>
              </a:rPr>
              <a:t>传承人工作照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17880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AAAAA"/>
                </a:solidFill>
              </a:rPr>
              <a:t>年迈传承人手持刻刀剪纸的纪实照片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0" y="1325880"/>
            <a:ext cx="6126480" cy="1463040"/>
          </a:xfrm>
          <a:prstGeom prst="rect">
            <a:avLst/>
          </a:prstGeom>
          <a:solidFill>
            <a:srgbClr val="FFF0E5"/>
          </a:solidFill>
          <a:ln w="19050">
            <a:solidFill>
              <a:srgbClr val="C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0" y="1399032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C02020"/>
                </a:solidFill>
              </a:rPr>
              <a:t>&lt;200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192024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C2C2C"/>
                </a:solidFill>
              </a:rPr>
              <a:t>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18288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2C2C"/>
                </a:solidFill>
              </a:rPr>
              <a:t>全国核心传承人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0" y="3017520"/>
            <a:ext cx="6126480" cy="1463040"/>
          </a:xfrm>
          <a:prstGeom prst="rect">
            <a:avLst/>
          </a:prstGeom>
          <a:solidFill>
            <a:srgbClr val="FFF0E5"/>
          </a:solidFill>
          <a:ln w="19050">
            <a:solidFill>
              <a:srgbClr val="C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0" y="3090672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C02020"/>
                </a:solidFill>
              </a:rPr>
              <a:t>60+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3611879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C2C2C"/>
                </a:solidFill>
              </a:rPr>
              <a:t>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3520439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2C2C"/>
                </a:solidFill>
              </a:rPr>
              <a:t>传承人平均年龄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0" y="4709160"/>
            <a:ext cx="6126480" cy="1463040"/>
          </a:xfrm>
          <a:prstGeom prst="rect">
            <a:avLst/>
          </a:prstGeom>
          <a:solidFill>
            <a:srgbClr val="FFF0E5"/>
          </a:solidFill>
          <a:ln w="19050">
            <a:solidFill>
              <a:srgbClr val="C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52160" y="4782312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C02020"/>
                </a:solidFill>
              </a:rPr>
              <a:t>断层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530352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C2C2C"/>
                </a:solidFill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52120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2C2C"/>
                </a:solidFill>
              </a:rPr>
              <a:t>年轻人参与率极低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数字化解决方案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13232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DDCC"/>
                </a:solidFill>
              </a:rPr>
              <a:t>AI辅助设计  ·  AR沉浸体验  ·  数字档案库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3657600" cy="2743200"/>
          </a:xfrm>
          <a:prstGeom prst="rect">
            <a:avLst/>
          </a:prstGeom>
          <a:solidFill>
            <a:srgbClr val="F5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3547872" cy="2633472"/>
          </a:xfrm>
          <a:prstGeom prst="rect">
            <a:avLst/>
          </a:prstGeom>
          <a:noFill/>
          <a:ln w="12700">
            <a:solidFill>
              <a:srgbClr val="CC8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205740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CC8844"/>
                </a:solidFill>
              </a:rPr>
              <a:t>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54203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02020"/>
                </a:solidFill>
              </a:rPr>
              <a:t>AI 辅助设计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94436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AAAAA"/>
                </a:solidFill>
              </a:rPr>
              <a:t>AI生成剪纸图案效果图
或软件界面截图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977639"/>
            <a:ext cx="3657600" cy="411480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995928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AI 辅助设计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462272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2C2C"/>
                </a:solidFill>
              </a:rPr>
              <a:t>▸  图案识别与生成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056632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2C2C"/>
                </a:solidFill>
              </a:rPr>
              <a:t>▸  降低创作门槛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650992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2C2C"/>
                </a:solidFill>
              </a:rPr>
              <a:t>▸  矢量图输出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1188720"/>
            <a:ext cx="3657600" cy="2743200"/>
          </a:xfrm>
          <a:prstGeom prst="rect">
            <a:avLst/>
          </a:prstGeom>
          <a:solidFill>
            <a:srgbClr val="F5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52544" y="1243584"/>
            <a:ext cx="3547872" cy="2633472"/>
          </a:xfrm>
          <a:prstGeom prst="rect">
            <a:avLst/>
          </a:prstGeom>
          <a:noFill/>
          <a:ln w="12700">
            <a:solidFill>
              <a:srgbClr val="CC8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0" y="205740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CC8844"/>
                </a:solidFill>
              </a:rPr>
              <a:t>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254203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02020"/>
                </a:solidFill>
              </a:rPr>
              <a:t>AR 沉浸体验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294436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AAAAA"/>
                </a:solidFill>
              </a:rPr>
              <a:t>手机AR扫描剪纸
触发动态展示的效果图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3977639"/>
            <a:ext cx="3657600" cy="411480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0" y="3995928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AR 沉浸体验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462272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2C2C"/>
                </a:solidFill>
              </a:rPr>
              <a:t>▸  扫描实物即展示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5056632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2C2C"/>
                </a:solidFill>
              </a:rPr>
              <a:t>▸  虚拟剪纸互动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5650992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2C2C"/>
                </a:solidFill>
              </a:rPr>
              <a:t>▸  技艺讲解内嵌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1188720"/>
            <a:ext cx="3657600" cy="2743200"/>
          </a:xfrm>
          <a:prstGeom prst="rect">
            <a:avLst/>
          </a:prstGeom>
          <a:solidFill>
            <a:srgbClr val="F5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84464" y="1243584"/>
            <a:ext cx="3547872" cy="2633472"/>
          </a:xfrm>
          <a:prstGeom prst="rect">
            <a:avLst/>
          </a:prstGeom>
          <a:noFill/>
          <a:ln w="12700">
            <a:solidFill>
              <a:srgbClr val="CC8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92640" y="205740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CC8844"/>
                </a:solidFill>
              </a:rPr>
              <a:t>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54203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02020"/>
                </a:solidFill>
              </a:rPr>
              <a:t>数字档案库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294436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AAAAA"/>
                </a:solidFill>
              </a:rPr>
              <a:t>传承人录制视频
或数字档案界面截图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0" y="3977639"/>
            <a:ext cx="3657600" cy="411480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0" y="3995928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数字档案库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4462272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2C2C"/>
                </a:solidFill>
              </a:rPr>
              <a:t>▸  全流程视频记录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5056632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2C2C"/>
                </a:solidFill>
              </a:rPr>
              <a:t>▸  高清3D建模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6760" y="5650992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2C2C"/>
                </a:solidFill>
              </a:rPr>
              <a:t>▸  永久云端保存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AI 辅助设计系统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13232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DDCC"/>
                </a:solidFill>
              </a:rPr>
              <a:t>让机器学习千年剪纸的美学密码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6858000" cy="5212080"/>
          </a:xfrm>
          <a:prstGeom prst="rect">
            <a:avLst/>
          </a:prstGeom>
          <a:solidFill>
            <a:srgbClr val="F5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6748272" cy="5102352"/>
          </a:xfrm>
          <a:prstGeom prst="rect">
            <a:avLst/>
          </a:prstGeom>
          <a:noFill/>
          <a:ln w="12700">
            <a:solidFill>
              <a:srgbClr val="CC8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329184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CC8844"/>
                </a:solidFill>
              </a:rPr>
              <a:t>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776472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02020"/>
                </a:solidFill>
              </a:rPr>
              <a:t>AI生成剪纸图案对比图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178808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AAAAA"/>
                </a:solidFill>
              </a:rPr>
              <a:t>左：传统纹样原图  /  右：AI生成新图案
或：软件操作界面截图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1325880"/>
            <a:ext cx="1005840" cy="914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79" y="1490472"/>
            <a:ext cx="1005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1527048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2C2C"/>
                </a:solidFill>
              </a:rPr>
              <a:t>采集5000+传统纹样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22402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D4AF37"/>
                </a:solidFill>
              </a:rPr>
              <a:t>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79" y="2651760"/>
            <a:ext cx="1005840" cy="914400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79" y="2816352"/>
            <a:ext cx="1005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TRAIN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80" y="2852928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2C2C"/>
                </a:solidFill>
              </a:rPr>
              <a:t>深度学习风格建模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120" y="3566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02020"/>
                </a:solidFill>
              </a:rPr>
              <a:t>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98079" y="3977639"/>
            <a:ext cx="1005840" cy="914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79" y="4142231"/>
            <a:ext cx="1005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GEN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41080" y="4178807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2C2C"/>
                </a:solidFill>
              </a:rPr>
              <a:t>AI生成新图案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8120" y="4892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D4AF37"/>
                </a:solidFill>
              </a:rPr>
              <a:t>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79" y="5303520"/>
            <a:ext cx="1005840" cy="914400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79" y="5468112"/>
            <a:ext cx="1005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OUTPUT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41080" y="5504688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2C2C"/>
                </a:solidFill>
              </a:rPr>
              <a:t>矢量图 → 文创生产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AR 沉浸体验平台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13232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DDCC"/>
                </a:solidFill>
              </a:rPr>
              <a:t>扫一扫，让剪纸动起来、活起来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5486400" cy="5212080"/>
          </a:xfrm>
          <a:prstGeom prst="rect">
            <a:avLst/>
          </a:prstGeom>
          <a:solidFill>
            <a:srgbClr val="F5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5376672" cy="5102352"/>
          </a:xfrm>
          <a:prstGeom prst="rect">
            <a:avLst/>
          </a:prstGeom>
          <a:noFill/>
          <a:ln w="12700">
            <a:solidFill>
              <a:srgbClr val="CC8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329184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CC8844"/>
                </a:solidFill>
              </a:rPr>
              <a:t>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77647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02020"/>
                </a:solidFill>
              </a:rPr>
              <a:t>AR体验效果图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17880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AAAAA"/>
                </a:solidFill>
              </a:rPr>
              <a:t>手机扫描剪纸后屏幕呈现动态效果的截图
或AR眼镜体验实景图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280160"/>
            <a:ext cx="5669280" cy="1143000"/>
          </a:xfrm>
          <a:prstGeom prst="rect">
            <a:avLst/>
          </a:prstGeom>
          <a:solidFill>
            <a:srgbClr val="FFF0E5"/>
          </a:solidFill>
          <a:ln w="19050">
            <a:solidFill>
              <a:srgbClr val="C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371600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02020"/>
                </a:solidFill>
              </a:rPr>
              <a:t>01  扫描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8288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2C2C"/>
                </a:solidFill>
              </a:rPr>
              <a:t>手机对准剪纸作品，自动识别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2633472"/>
            <a:ext cx="5669280" cy="1143000"/>
          </a:xfrm>
          <a:prstGeom prst="rect">
            <a:avLst/>
          </a:prstGeom>
          <a:solidFill>
            <a:srgbClr val="FFF0E5"/>
          </a:solidFill>
          <a:ln w="19050">
            <a:solidFill>
              <a:srgbClr val="C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2724912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02020"/>
                </a:solidFill>
              </a:rPr>
              <a:t>02  触发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18211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2C2C"/>
                </a:solidFill>
              </a:rPr>
              <a:t>作品背后的故事和工艺动态呈现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3986783"/>
            <a:ext cx="5669280" cy="1143000"/>
          </a:xfrm>
          <a:prstGeom prst="rect">
            <a:avLst/>
          </a:prstGeom>
          <a:solidFill>
            <a:srgbClr val="FFF0E5"/>
          </a:solidFill>
          <a:ln w="19050">
            <a:solidFill>
              <a:srgbClr val="C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4078223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02020"/>
                </a:solidFill>
              </a:rPr>
              <a:t>03  互动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535423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2C2C"/>
                </a:solidFill>
              </a:rPr>
              <a:t>跟着屏幕一步步学剪纸技法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5340096"/>
            <a:ext cx="5669280" cy="1143000"/>
          </a:xfrm>
          <a:prstGeom prst="rect">
            <a:avLst/>
          </a:prstGeom>
          <a:solidFill>
            <a:srgbClr val="FFF0E5"/>
          </a:solidFill>
          <a:ln w="19050">
            <a:solidFill>
              <a:srgbClr val="C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5431536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02020"/>
                </a:solidFill>
              </a:rPr>
              <a:t>04  分享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5888736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2C2C"/>
                </a:solidFill>
              </a:rPr>
              <a:t>一键发布AR体验至社交媒体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应用场景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13232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DDCC"/>
                </a:solidFill>
              </a:rPr>
              <a:t>文旅融合  ·  教育传承  ·  文创开发  ·  国际传播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5577840" cy="2240280"/>
          </a:xfrm>
          <a:prstGeom prst="rect">
            <a:avLst/>
          </a:prstGeom>
          <a:solidFill>
            <a:srgbClr val="F5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5468112" cy="2130552"/>
          </a:xfrm>
          <a:prstGeom prst="rect">
            <a:avLst/>
          </a:prstGeom>
          <a:noFill/>
          <a:ln w="12700">
            <a:solidFill>
              <a:srgbClr val="CC8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88920" y="180594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CC8844"/>
                </a:solidFill>
              </a:rPr>
              <a:t>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290572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02020"/>
                </a:solidFill>
              </a:rPr>
              <a:t>文旅融合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692908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AAAAA"/>
                </a:solidFill>
              </a:rPr>
              <a:t>景区AR导览 / 非遗体验馆实景图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429000"/>
            <a:ext cx="5577840" cy="384048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447288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文旅融合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188720"/>
            <a:ext cx="5577840" cy="2240280"/>
          </a:xfrm>
          <a:prstGeom prst="rect">
            <a:avLst/>
          </a:prstGeom>
          <a:solidFill>
            <a:srgbClr val="F5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18504" y="1243584"/>
            <a:ext cx="5468112" cy="2130552"/>
          </a:xfrm>
          <a:prstGeom prst="rect">
            <a:avLst/>
          </a:prstGeom>
          <a:noFill/>
          <a:ln w="12700">
            <a:solidFill>
              <a:srgbClr val="CC8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0" y="180594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CC8844"/>
                </a:solidFill>
              </a:rPr>
              <a:t>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290572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02020"/>
                </a:solidFill>
              </a:rPr>
              <a:t>教育传承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692908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AAAAA"/>
                </a:solidFill>
              </a:rPr>
              <a:t>学生课堂学习剪纸 / 在线学习平台截图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3429000"/>
            <a:ext cx="5577840" cy="384048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3447288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教育传承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886200"/>
            <a:ext cx="5577840" cy="2240280"/>
          </a:xfrm>
          <a:prstGeom prst="rect">
            <a:avLst/>
          </a:prstGeom>
          <a:solidFill>
            <a:srgbClr val="F5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0624" y="3941063"/>
            <a:ext cx="5468112" cy="2130552"/>
          </a:xfrm>
          <a:prstGeom prst="rect">
            <a:avLst/>
          </a:prstGeom>
          <a:noFill/>
          <a:ln w="12700">
            <a:solidFill>
              <a:srgbClr val="CC8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88920" y="450342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CC8844"/>
                </a:solidFill>
              </a:rPr>
              <a:t>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988052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02020"/>
                </a:solidFill>
              </a:rPr>
              <a:t>文创产业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5390388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AAAAA"/>
                </a:solidFill>
              </a:rPr>
              <a:t>印有剪纸纹样的文创产品图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6126480"/>
            <a:ext cx="5577840" cy="384048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6144768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文创产业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3640" y="3886200"/>
            <a:ext cx="5577840" cy="2240280"/>
          </a:xfrm>
          <a:prstGeom prst="rect">
            <a:avLst/>
          </a:prstGeom>
          <a:solidFill>
            <a:srgbClr val="F5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18504" y="3941063"/>
            <a:ext cx="5468112" cy="2130552"/>
          </a:xfrm>
          <a:prstGeom prst="rect">
            <a:avLst/>
          </a:prstGeom>
          <a:noFill/>
          <a:ln w="12700">
            <a:solidFill>
              <a:srgbClr val="CC8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0" y="450342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CC8844"/>
                </a:solidFill>
              </a:rPr>
              <a:t>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4988052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02020"/>
                </a:solidFill>
              </a:rPr>
              <a:t>国际传播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5390388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AAAAA"/>
                </a:solidFill>
              </a:rPr>
              <a:t>海外展览 / 外国友人体验剪纸图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6126480"/>
            <a:ext cx="5577840" cy="384048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6144768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国际传播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127455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数字赋能·剪映千年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11457432" cy="3931920"/>
          </a:xfrm>
          <a:prstGeom prst="rect">
            <a:avLst/>
          </a:prstGeom>
          <a:solidFill>
            <a:srgbClr val="F5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0624" y="1106424"/>
            <a:ext cx="11347704" cy="3822191"/>
          </a:xfrm>
          <a:prstGeom prst="rect">
            <a:avLst/>
          </a:prstGeom>
          <a:noFill/>
          <a:ln w="12700">
            <a:solidFill>
              <a:srgbClr val="CC8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28716" y="251460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CC8844"/>
                </a:solidFill>
              </a:rPr>
              <a:t>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999232"/>
            <a:ext cx="11457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02020"/>
                </a:solidFill>
              </a:rPr>
              <a:t>最终视觉大图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401568"/>
            <a:ext cx="11457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AAAAA"/>
                </a:solidFill>
              </a:rPr>
              <a:t>建议：一张融合了传统剪纸纹样 + 数字光效/AR界面的合成图
体现「传统 × 科技」的视觉冲击感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120640"/>
            <a:ext cx="121889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5157216"/>
            <a:ext cx="12188952" cy="1426464"/>
          </a:xfrm>
          <a:prstGeom prst="rect">
            <a:avLst/>
          </a:prstGeom>
          <a:solidFill>
            <a:srgbClr val="FFF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5257800"/>
            <a:ext cx="3566160" cy="822960"/>
          </a:xfrm>
          <a:prstGeom prst="rect">
            <a:avLst/>
          </a:prstGeom>
          <a:solidFill>
            <a:srgbClr val="FFF0E5"/>
          </a:solidFill>
          <a:ln w="19050">
            <a:solidFill>
              <a:srgbClr val="C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5276088"/>
            <a:ext cx="356616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C02020"/>
                </a:solidFill>
              </a:rPr>
              <a:t>AI赋能技艺  ·  降低传承门槛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5257800"/>
            <a:ext cx="3566160" cy="822960"/>
          </a:xfrm>
          <a:prstGeom prst="rect">
            <a:avLst/>
          </a:prstGeom>
          <a:solidFill>
            <a:srgbClr val="FFF0E5"/>
          </a:solidFill>
          <a:ln w="19050">
            <a:solidFill>
              <a:srgbClr val="C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5276088"/>
            <a:ext cx="356616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C02020"/>
                </a:solidFill>
              </a:rPr>
              <a:t>AR活化展示  ·  触达年轻一代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5257800"/>
            <a:ext cx="3566160" cy="822960"/>
          </a:xfrm>
          <a:prstGeom prst="rect">
            <a:avLst/>
          </a:prstGeom>
          <a:solidFill>
            <a:srgbClr val="FFF0E5"/>
          </a:solidFill>
          <a:ln w="19050">
            <a:solidFill>
              <a:srgbClr val="C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5276088"/>
            <a:ext cx="356616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C02020"/>
                </a:solidFill>
              </a:rPr>
              <a:t>数字档案留存  ·  守护非遗根脉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121889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