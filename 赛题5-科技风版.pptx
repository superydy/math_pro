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04320" y="0"/>
            <a:ext cx="109728" cy="685800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9576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0"/>
            <a:ext cx="109728" cy="685800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78640" y="0"/>
            <a:ext cx="109728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数字赋能  剪映千年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D4FF"/>
                </a:solidFill>
              </a:rPr>
              <a:t>蔚县剪纸的数字化活化与创新传播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8229600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2743200" cy="640080"/>
          </a:xfrm>
          <a:prstGeom prst="rect">
            <a:avLst/>
          </a:prstGeom>
          <a:solidFill>
            <a:srgbClr val="0D253A"/>
          </a:solidFill>
          <a:ln w="19050">
            <a:solidFill>
              <a:srgbClr val="008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4164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FF"/>
                </a:solidFill>
              </a:rPr>
              <a:t>AI  辅助设计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4023360"/>
            <a:ext cx="2743200" cy="640080"/>
          </a:xfrm>
          <a:prstGeom prst="rect">
            <a:avLst/>
          </a:prstGeom>
          <a:solidFill>
            <a:srgbClr val="0D253A"/>
          </a:solidFill>
          <a:ln w="19050">
            <a:solidFill>
              <a:srgbClr val="008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04164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FF88"/>
                </a:solidFill>
              </a:rPr>
              <a:t>AR  沉浸体验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4023360"/>
            <a:ext cx="2743200" cy="640080"/>
          </a:xfrm>
          <a:prstGeom prst="rect">
            <a:avLst/>
          </a:prstGeom>
          <a:solidFill>
            <a:srgbClr val="0D253A"/>
          </a:solidFill>
          <a:ln w="19050">
            <a:solidFill>
              <a:srgbClr val="008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04164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数字档案库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第三届中国研究生文化中国两创大赛  · 赛题5 开放赛题 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84632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0" b="1" i="0">
                <a:solidFill>
                  <a:srgbClr val="0D3045"/>
                </a:solidFill>
              </a:rPr>
              <a:t>500+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6677"/>
                </a:solidFill>
              </a:rPr>
              <a:t>年非遗传承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面临的困境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传统非遗技艺的传承正在断裂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3474720"/>
          </a:xfrm>
          <a:prstGeom prst="rect">
            <a:avLst/>
          </a:prstGeom>
          <a:solidFill>
            <a:srgbClr val="0D2030"/>
          </a:solidFill>
          <a:ln w="1905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2286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8800"/>
                </a:solidFill>
              </a:rPr>
              <a:t>&lt; 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BBCC"/>
                </a:solidFill>
              </a:rPr>
              <a:t>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全国蔚县剪纸
核心传承人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3474720"/>
          </a:xfrm>
          <a:prstGeom prst="rect">
            <a:avLst/>
          </a:prstGeom>
          <a:solidFill>
            <a:srgbClr val="0D2030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228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544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4444"/>
                </a:solidFill>
              </a:rPr>
              <a:t>60+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BBCC"/>
                </a:solidFill>
              </a:rPr>
              <a:t>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337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传承人
平均年龄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3474720"/>
          </a:xfrm>
          <a:prstGeom prst="rect">
            <a:avLst/>
          </a:prstGeom>
          <a:solidFill>
            <a:srgbClr val="0D203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566160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544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00D4FF"/>
                </a:solidFill>
              </a:rPr>
              <a:t>5000万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BBCC"/>
                </a:solidFill>
              </a:rPr>
              <a:t>张/年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337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年产量却无法
触达年轻群体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120640"/>
            <a:ext cx="12188952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2303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亟需用现代数字技术，让千年剪纸在数字时代重新焕发生命力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数字化解决方案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D4FF"/>
                </a:solidFill>
              </a:rPr>
              <a:t>三大技术支柱  · 全链条赋能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57600" cy="5303520"/>
          </a:xfrm>
          <a:prstGeom prst="rect">
            <a:avLst/>
          </a:prstGeom>
          <a:solidFill>
            <a:srgbClr val="00406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1417320"/>
            <a:ext cx="1371600" cy="1371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4630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70E1A"/>
                </a:solidFill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D4FF"/>
                </a:solidFill>
              </a:rPr>
              <a:t>辅助设计系统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3108960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74903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图案识别 &amp; 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891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降低创作门槛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0292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保留风格基因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66927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矢量图输出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34440"/>
            <a:ext cx="3657600" cy="5303520"/>
          </a:xfrm>
          <a:prstGeom prst="rect">
            <a:avLst/>
          </a:prstGeom>
          <a:solidFill>
            <a:srgbClr val="003A2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40680" y="1417320"/>
            <a:ext cx="1371600" cy="13716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14630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70E1A"/>
                </a:solidFill>
              </a:rPr>
              <a:t>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926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FF88"/>
                </a:solidFill>
              </a:rPr>
              <a:t>沉浸体验平台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566160"/>
            <a:ext cx="3108960" cy="228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74903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扫描实物即展示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3891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虚拟剪纸互动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50292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技艺讲解内嵌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66927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多语言支持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234440"/>
            <a:ext cx="3657600" cy="5303520"/>
          </a:xfrm>
          <a:prstGeom prst="rect">
            <a:avLst/>
          </a:prstGeom>
          <a:solidFill>
            <a:srgbClr val="3A300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72600" y="1417320"/>
            <a:ext cx="1371600" cy="13716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4630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70E1A"/>
                </a:solidFill>
              </a:rPr>
              <a:t>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926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700"/>
                </a:solidFill>
              </a:rPr>
              <a:t>数字化档案库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566160"/>
            <a:ext cx="3108960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74903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全流程视频记录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3891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传承人口述存档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50292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高清3D模型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66927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开放数据共享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AI 辅助设计系统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D4FF"/>
                </a:solidFill>
              </a:rPr>
              <a:t>让机器读懂剪纸的美学密码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914400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0E1A"/>
                </a:solidFill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采集5000+
传统纹样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914400" cy="10058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06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0E1A"/>
                </a:solidFill>
              </a:rPr>
              <a:t>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06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深度学习
风格建模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FF88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03320"/>
            <a:ext cx="914400" cy="1005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8404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0E1A"/>
                </a:solidFill>
              </a:rPr>
              <a:t>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40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AI生成
新图案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700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914400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074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0E1A"/>
                </a:solidFill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74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矢量输出
用于生产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560320"/>
            <a:ext cx="457200" cy="1371600"/>
          </a:xfrm>
          <a:prstGeom prst="rect">
            <a:avLst/>
          </a:prstGeom>
          <a:solidFill>
            <a:srgbClr val="0D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2834640"/>
            <a:ext cx="45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D4FF"/>
                </a:solidFill>
              </a:rPr>
              <a:t>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1234440"/>
            <a:ext cx="7223760" cy="5303520"/>
          </a:xfrm>
          <a:prstGeom prst="rect">
            <a:avLst/>
          </a:prstGeom>
          <a:solidFill>
            <a:srgbClr val="0D20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371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核心创新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1874519"/>
            <a:ext cx="6675120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2011680"/>
            <a:ext cx="100584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21031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0E1A"/>
                </a:solidFill>
              </a:rPr>
              <a:t>首创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05740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蔚县剪纸专属AI生成模型，保留点色彩绘风格基因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3017520"/>
            <a:ext cx="100584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31089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0E1A"/>
                </a:solidFill>
              </a:rPr>
              <a:t>降门槛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30632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零基础用户可在5分钟内生成正宗剪纸图案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4023360"/>
            <a:ext cx="100584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41148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0E1A"/>
                </a:solidFill>
              </a:rPr>
              <a:t>规模化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06908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批量输出标准矢量图，支持文创工厂直接生产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5029200"/>
            <a:ext cx="100584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512064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0E1A"/>
                </a:solidFill>
              </a:rPr>
              <a:t>可交互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0749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实时调整色彩、构图，个性化定制专属作品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228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AR 沉浸体验平台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88"/>
                </a:solidFill>
              </a:rPr>
              <a:t>扫一扫，让剪纸活起来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926080" cy="5029200"/>
          </a:xfrm>
          <a:prstGeom prst="rect">
            <a:avLst/>
          </a:prstGeom>
          <a:solidFill>
            <a:srgbClr val="121212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2651760" cy="4480560"/>
          </a:xfrm>
          <a:prstGeom prst="rect">
            <a:avLst/>
          </a:prstGeom>
          <a:solidFill>
            <a:srgbClr val="0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</a:rPr>
              <a:t>AR SCAN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2011680" cy="2011680"/>
          </a:xfrm>
          <a:prstGeom prst="rect">
            <a:avLst/>
          </a:prstGeom>
          <a:solidFill>
            <a:srgbClr val="05182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FF88"/>
                </a:solidFill>
              </a:rPr>
              <a:t>[  剪纸识别中 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</a:rPr>
              <a:t>动态展示触发...</a:t>
            </a:r>
          </a:p>
        </p:txBody>
      </p:sp>
      <p:sp>
        <p:nvSpPr>
          <p:cNvPr id="11" name="Oval 10"/>
          <p:cNvSpPr/>
          <p:nvPr/>
        </p:nvSpPr>
        <p:spPr>
          <a:xfrm>
            <a:off x="1463040" y="5394960"/>
            <a:ext cx="548640" cy="548640"/>
          </a:xfrm>
          <a:prstGeom prst="ellipse">
            <a:avLst/>
          </a:prstGeom>
          <a:solidFill>
            <a:srgbClr val="333333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1280160"/>
            <a:ext cx="548640" cy="10058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417319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E1A"/>
                </a:solidFill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280160"/>
            <a:ext cx="7498079" cy="1005840"/>
          </a:xfrm>
          <a:prstGeom prst="rect">
            <a:avLst/>
          </a:prstGeom>
          <a:solidFill>
            <a:srgbClr val="05182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35331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F88"/>
                </a:solidFill>
              </a:rPr>
              <a:t>实物触发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8308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手机扫描剪纸，即刻呈现动态故事与背景介绍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2560320"/>
            <a:ext cx="548640" cy="10058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2697479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E1A"/>
                </a:solidFill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560320"/>
            <a:ext cx="7498079" cy="1005840"/>
          </a:xfrm>
          <a:prstGeom prst="rect">
            <a:avLst/>
          </a:prstGeom>
          <a:solidFill>
            <a:srgbClr val="05182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63347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F88"/>
                </a:solidFill>
              </a:rPr>
              <a:t>虚拟制作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063239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屏幕上跟着传承人一步步剪出属于自己的作品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3840479"/>
            <a:ext cx="548640" cy="10058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3977639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E1A"/>
                </a:solidFill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840479"/>
            <a:ext cx="7498079" cy="1005840"/>
          </a:xfrm>
          <a:prstGeom prst="rect">
            <a:avLst/>
          </a:prstGeom>
          <a:solidFill>
            <a:srgbClr val="05182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913631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F88"/>
                </a:solidFill>
              </a:rPr>
              <a:t>技艺传授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343399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传承人录制讲解视频，扫码随时观看学习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5120640"/>
            <a:ext cx="548640" cy="10058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52578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E1A"/>
                </a:solidFill>
              </a:rPr>
              <a:t>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5120640"/>
            <a:ext cx="7498079" cy="1005840"/>
          </a:xfrm>
          <a:prstGeom prst="rect">
            <a:avLst/>
          </a:prstGeom>
          <a:solidFill>
            <a:srgbClr val="05182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519379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F88"/>
                </a:solidFill>
              </a:rPr>
              <a:t>多端传播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623559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一键分享AR体验至社交媒体，扩大文化传播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数字档案库  ×  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700"/>
                </a:solidFill>
              </a:rPr>
              <a:t>永久留存技艺基因  · 多维度落地赋能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029200" cy="5394960"/>
          </a:xfrm>
          <a:prstGeom prst="rect">
            <a:avLst/>
          </a:prstGeom>
          <a:solidFill>
            <a:srgbClr val="0D1F1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数字档案结构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4224528" cy="640080"/>
          </a:xfrm>
          <a:prstGeom prst="rect">
            <a:avLst/>
          </a:prstGeom>
          <a:solidFill>
            <a:srgbClr val="3F350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4224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700"/>
                </a:solidFill>
              </a:rPr>
              <a:t>视频层  ·  全流程录制  1080P+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3346703" cy="640080"/>
          </a:xfrm>
          <a:prstGeom prst="rect">
            <a:avLst/>
          </a:prstGeom>
          <a:solidFill>
            <a:srgbClr val="00353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334670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</a:rPr>
              <a:t>图像层  ·  高清扫描  精度0.1mm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11879"/>
            <a:ext cx="2468879" cy="640080"/>
          </a:xfrm>
          <a:prstGeom prst="rect">
            <a:avLst/>
          </a:prstGeom>
          <a:solidFill>
            <a:srgbClr val="003F22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88"/>
                </a:solidFill>
              </a:rPr>
              <a:t>3D层  ·  三维建模  还原立体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80559"/>
            <a:ext cx="1591056" cy="640080"/>
          </a:xfrm>
          <a:prstGeom prst="rect">
            <a:avLst/>
          </a:prstGeom>
          <a:solidFill>
            <a:srgbClr val="2A2E33"/>
          </a:solidFill>
          <a:ln w="1905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71999"/>
            <a:ext cx="15910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文字层  ·  口述整理  传承人档案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49240"/>
            <a:ext cx="932688" cy="640080"/>
          </a:xfrm>
          <a:prstGeom prst="rect">
            <a:avLst/>
          </a:prstGeom>
          <a:solidFill>
            <a:srgbClr val="15191D"/>
          </a:solidFill>
          <a:ln w="1905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440679"/>
            <a:ext cx="9326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API层  ·  开放接口  学术共享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188720"/>
            <a:ext cx="3017520" cy="2468880"/>
          </a:xfrm>
          <a:prstGeom prst="rect">
            <a:avLst/>
          </a:prstGeom>
          <a:solidFill>
            <a:srgbClr val="08182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1188720"/>
            <a:ext cx="3017520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文旅融合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178308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景区AR导览
非遗体验馆
数字文创产品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1188720"/>
            <a:ext cx="3017520" cy="2468880"/>
          </a:xfrm>
          <a:prstGeom prst="rect">
            <a:avLst/>
          </a:prstGeom>
          <a:solidFill>
            <a:srgbClr val="08182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1188720"/>
            <a:ext cx="3017520" cy="228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F88"/>
                </a:solidFill>
              </a:rPr>
              <a:t>教育传承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78308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中小学美育课
高校研究数据库
在线学习平台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3840480"/>
            <a:ext cx="3017520" cy="2468880"/>
          </a:xfrm>
          <a:prstGeom prst="rect">
            <a:avLst/>
          </a:prstGeom>
          <a:solidFill>
            <a:srgbClr val="08182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0" y="3840480"/>
            <a:ext cx="3017520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文创产业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44348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AI图案授权
国潮品牌联名
数字藏品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3840480"/>
            <a:ext cx="3017520" cy="2468880"/>
          </a:xfrm>
          <a:prstGeom prst="rect">
            <a:avLst/>
          </a:prstGeom>
          <a:solidFill>
            <a:srgbClr val="081828"/>
          </a:solidFill>
          <a:ln w="19050">
            <a:solidFill>
              <a:srgbClr val="BB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15400" y="3840480"/>
            <a:ext cx="3017520" cy="2286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88FF"/>
                </a:solidFill>
              </a:rPr>
              <a:t>国际传播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4348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多语言平台
海外文化中心
国际博物馆合作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社会价值与意义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D4FF"/>
                </a:solidFill>
              </a:rPr>
              <a:t>文化自信  ·  创新发展  ·  国家战略  ·  文明互鉴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5212080"/>
          </a:xfrm>
          <a:prstGeom prst="rect">
            <a:avLst/>
          </a:prstGeom>
          <a:solidFill>
            <a:srgbClr val="0A1A2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43200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417320"/>
            <a:ext cx="1371600" cy="1371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70E1A"/>
                </a:solidFill>
              </a:rPr>
              <a:t>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D4FF"/>
                </a:solidFill>
              </a:rPr>
              <a:t>文化自信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20440"/>
            <a:ext cx="2194560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</a:rPr>
              <a:t>让年轻一代
亲近传统美学
增强民族认同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743200" cy="5212080"/>
          </a:xfrm>
          <a:prstGeom prst="rect">
            <a:avLst/>
          </a:prstGeom>
          <a:solidFill>
            <a:srgbClr val="0A1A2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188720"/>
            <a:ext cx="2743200" cy="10972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77639" y="1417320"/>
            <a:ext cx="1371600" cy="13716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14630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70E1A"/>
                </a:solidFill>
              </a:rPr>
              <a:t>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26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FF88"/>
                </a:solidFill>
              </a:rPr>
              <a:t>两创精神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3520440"/>
            <a:ext cx="2194560" cy="228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365760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</a:rPr>
              <a:t>传统技艺 × 现代科技
创造性转化
创新性发展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2743200" cy="5212080"/>
          </a:xfrm>
          <a:prstGeom prst="rect">
            <a:avLst/>
          </a:prstGeom>
          <a:solidFill>
            <a:srgbClr val="0A1A2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2743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03720" y="1417320"/>
            <a:ext cx="1371600" cy="13716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4630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70E1A"/>
                </a:solidFill>
              </a:rPr>
              <a:t>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926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700"/>
                </a:solidFill>
              </a:rPr>
              <a:t>国家战略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520440"/>
            <a:ext cx="2194560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65760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</a:rPr>
              <a:t>数字中国 · 文旅融合
乡村振兴
产学研一体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188720"/>
            <a:ext cx="2743200" cy="5212080"/>
          </a:xfrm>
          <a:prstGeom prst="rect">
            <a:avLst/>
          </a:prstGeom>
          <a:solidFill>
            <a:srgbClr val="0A1A28"/>
          </a:solidFill>
          <a:ln w="19050">
            <a:solidFill>
              <a:srgbClr val="BB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1188720"/>
            <a:ext cx="2743200" cy="109728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29800" y="1417320"/>
            <a:ext cx="1371600" cy="1371600"/>
          </a:xfrm>
          <a:prstGeom prst="ellipse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14630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70E1A"/>
                </a:solidFill>
              </a:rPr>
              <a:t>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926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B88FF"/>
                </a:solidFill>
              </a:rPr>
              <a:t>文明互鉴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3520440"/>
            <a:ext cx="2194560" cy="2286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365760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</a:rPr>
              <a:t>数字平台跨越国界
中华美学走向世界
贡献文化软实力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0D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22860"/>
          </a:xfrm>
          <a:prstGeom prst="rect">
            <a:avLst/>
          </a:prstGeom>
          <a:solidFill>
            <a:srgbClr val="0D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22860"/>
          </a:xfrm>
          <a:prstGeom prst="rect">
            <a:avLst/>
          </a:prstGeom>
          <a:solidFill>
            <a:srgbClr val="0D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468880"/>
            <a:ext cx="12188952" cy="22860"/>
          </a:xfrm>
          <a:prstGeom prst="rect">
            <a:avLst/>
          </a:prstGeom>
          <a:solidFill>
            <a:srgbClr val="0D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291840"/>
            <a:ext cx="12188952" cy="22860"/>
          </a:xfrm>
          <a:prstGeom prst="rect">
            <a:avLst/>
          </a:prstGeom>
          <a:solidFill>
            <a:srgbClr val="0D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114800"/>
            <a:ext cx="12188952" cy="22860"/>
          </a:xfrm>
          <a:prstGeom prst="rect">
            <a:avLst/>
          </a:prstGeom>
          <a:solidFill>
            <a:srgbClr val="0D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37760"/>
            <a:ext cx="12188952" cy="22860"/>
          </a:xfrm>
          <a:prstGeom prst="rect">
            <a:avLst/>
          </a:prstGeom>
          <a:solidFill>
            <a:srgbClr val="0D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60720"/>
            <a:ext cx="12188952" cy="22860"/>
          </a:xfrm>
          <a:prstGeom prst="rect">
            <a:avLst/>
          </a:prstGeom>
          <a:solidFill>
            <a:srgbClr val="0D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让千年剪纸技艺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D4FF"/>
                </a:solidFill>
              </a:rPr>
              <a:t>在数字时代焕发新生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11274552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4572000"/>
            <a:ext cx="914400" cy="914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E1A"/>
                </a:solidFill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754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赋能技艺  降低门槛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4572000"/>
            <a:ext cx="914400" cy="9144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6634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E1A"/>
                </a:solidFill>
              </a:rPr>
              <a:t>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754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活化展示  触达人心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457200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6634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E1A"/>
                </a:solidFill>
              </a:rPr>
              <a:t>云端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754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永久留存  守护根脉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77"/>
                </a:solidFill>
              </a:rPr>
              <a:t>赛题5 · 开放赛题  |  第三届中国研究生文化中国两创大赛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